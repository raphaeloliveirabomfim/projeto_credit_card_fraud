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Roboto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regular.fntdata"/><Relationship Id="rId16" Type="http://schemas.openxmlformats.org/officeDocument/2006/relationships/slide" Target="slides/slide11.xml"/><Relationship Id="rId19" Type="http://schemas.openxmlformats.org/officeDocument/2006/relationships/font" Target="fonts/Raleway-italic.fntdata"/><Relationship Id="rId18" Type="http://schemas.openxmlformats.org/officeDocument/2006/relationships/font" Target="fonts/Ralew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c6f90357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c6f903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6f90357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c6f90357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c6f90357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c6f90357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c6f90357f_0_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c6f90357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c6f90357f_0_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c6f90357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c6f90357f_0_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c6f90357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c6f90357f_0_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c6f90357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c6f90357f_0_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c6f90357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c6f90357f_0_4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c6f90357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c4fe14acf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cc4fe14acf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c6f90357f_0_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c6f90357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436650" y="1703250"/>
            <a:ext cx="8118600" cy="15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800">
                <a:solidFill>
                  <a:srgbClr val="666666"/>
                </a:solidFill>
              </a:rPr>
              <a:t>Projeto Fraude em Cartão de Crédito</a:t>
            </a:r>
            <a:endParaRPr sz="3800">
              <a:solidFill>
                <a:srgbClr val="666666"/>
              </a:solidFill>
            </a:endParaRPr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651902" y="3453875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pt-BR" sz="1860">
                <a:solidFill>
                  <a:srgbClr val="666666"/>
                </a:solidFill>
              </a:rPr>
              <a:t>Raphael Oliveira Bomfim</a:t>
            </a:r>
            <a:endParaRPr sz="186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86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1061400" y="141345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rPr b="0" lang="pt-BR" sz="2180">
                <a:solidFill>
                  <a:srgbClr val="F9FAFB"/>
                </a:solidFill>
              </a:rPr>
              <a:t>O stakeholder trouxe um desafio crítico: as fraudes em transações de crédito estão cada vez mais sofisticadas e frequentes.</a:t>
            </a:r>
            <a:endParaRPr b="0" sz="2180">
              <a:solidFill>
                <a:srgbClr val="F9FAF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rPr b="0" lang="pt-BR" sz="2180">
                <a:solidFill>
                  <a:srgbClr val="F9FAFB"/>
                </a:solidFill>
              </a:rPr>
              <a:t>Os números do desafio:</a:t>
            </a:r>
            <a:endParaRPr b="0" sz="2180">
              <a:solidFill>
                <a:srgbClr val="F9FAFB"/>
              </a:solidFill>
            </a:endParaRPr>
          </a:p>
          <a:p>
            <a:pPr indent="-36703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9FAFB"/>
              </a:buClr>
              <a:buSzPts val="2180"/>
              <a:buFont typeface="Raleway"/>
              <a:buChar char="●"/>
            </a:pPr>
            <a:r>
              <a:rPr b="0" lang="pt-BR" sz="2180">
                <a:solidFill>
                  <a:srgbClr val="F9FAFB"/>
                </a:solidFill>
              </a:rPr>
              <a:t>284.807 transações analisadas (setembro/2023)</a:t>
            </a:r>
            <a:endParaRPr b="0" sz="2180">
              <a:solidFill>
                <a:srgbClr val="F9FAFB"/>
              </a:solidFill>
            </a:endParaRPr>
          </a:p>
          <a:p>
            <a:pPr indent="-36703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180"/>
              <a:buFont typeface="Raleway"/>
              <a:buChar char="●"/>
            </a:pPr>
            <a:r>
              <a:rPr b="0" lang="pt-BR" sz="2180">
                <a:solidFill>
                  <a:srgbClr val="F9FAFB"/>
                </a:solidFill>
              </a:rPr>
              <a:t>492 fraudes identificadas</a:t>
            </a:r>
            <a:endParaRPr b="0" sz="2180">
              <a:solidFill>
                <a:srgbClr val="F9FAFB"/>
              </a:solidFill>
            </a:endParaRPr>
          </a:p>
          <a:p>
            <a:pPr indent="-36703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180"/>
              <a:buFont typeface="Raleway"/>
              <a:buChar char="●"/>
            </a:pPr>
            <a:r>
              <a:rPr b="0" lang="pt-BR" sz="2180">
                <a:solidFill>
                  <a:srgbClr val="F9FAFB"/>
                </a:solidFill>
              </a:rPr>
              <a:t>Apenas 0,172% de fraudes → dados EXTREMAMENTE desbalanceados</a:t>
            </a:r>
            <a:endParaRPr b="0" sz="2180">
              <a:solidFill>
                <a:srgbClr val="F9FAF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0" sz="1380">
              <a:solidFill>
                <a:srgbClr val="F9FAFB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4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727800" y="156510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822">
                <a:solidFill>
                  <a:srgbClr val="F9FAFB"/>
                </a:solidFill>
              </a:rPr>
              <a:t>Antes de construir os modelos, os dados foram explorados para entender o comportamento das fraudes.</a:t>
            </a:r>
            <a:endParaRPr b="0" sz="1822">
              <a:solidFill>
                <a:srgbClr val="F9FAF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22">
              <a:solidFill>
                <a:srgbClr val="F9FAF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755">
                <a:solidFill>
                  <a:srgbClr val="F9FAFB"/>
                </a:solidFill>
              </a:rPr>
              <a:t>Principais insights:</a:t>
            </a:r>
            <a:endParaRPr sz="1755">
              <a:solidFill>
                <a:srgbClr val="F9FAFB"/>
              </a:solidFill>
            </a:endParaRPr>
          </a:p>
          <a:p>
            <a:pPr indent="-32893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9FAFB"/>
              </a:buClr>
              <a:buSzPct val="100000"/>
              <a:buFont typeface="Raleway"/>
              <a:buAutoNum type="arabicPeriod"/>
            </a:pPr>
            <a:r>
              <a:rPr b="0" lang="pt-BR" sz="1755">
                <a:solidFill>
                  <a:srgbClr val="F9FAFB"/>
                </a:solidFill>
              </a:rPr>
              <a:t>Distribuição temporal: Fraudes têm padrões diferentes ao longo do dia;</a:t>
            </a:r>
            <a:endParaRPr b="0" sz="1755">
              <a:solidFill>
                <a:srgbClr val="F9FAFB"/>
              </a:solidFill>
            </a:endParaRPr>
          </a:p>
          <a:p>
            <a:pPr indent="-32893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ct val="100000"/>
              <a:buFont typeface="Raleway"/>
              <a:buAutoNum type="arabicPeriod"/>
            </a:pPr>
            <a:r>
              <a:rPr b="0" lang="pt-BR" sz="1755">
                <a:solidFill>
                  <a:srgbClr val="F9FAFB"/>
                </a:solidFill>
              </a:rPr>
              <a:t>Valor das transações: Fraudes tendem a ter valores médios mais altos;</a:t>
            </a:r>
            <a:endParaRPr b="0" sz="1755">
              <a:solidFill>
                <a:srgbClr val="F9FAFB"/>
              </a:solidFill>
            </a:endParaRPr>
          </a:p>
          <a:p>
            <a:pPr indent="-32893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ct val="100000"/>
              <a:buFont typeface="Raleway"/>
              <a:buAutoNum type="arabicPeriod"/>
            </a:pPr>
            <a:r>
              <a:rPr b="0" lang="pt-BR" sz="1755">
                <a:solidFill>
                  <a:srgbClr val="F9FAFB"/>
                </a:solidFill>
              </a:rPr>
              <a:t>Visualização t-SNE: As fraudes formam CLUSTERS separados no espaço;</a:t>
            </a:r>
            <a:endParaRPr b="0" sz="1755">
              <a:solidFill>
                <a:srgbClr val="F9FAFB"/>
              </a:solidFill>
            </a:endParaRPr>
          </a:p>
          <a:p>
            <a:pPr indent="-32893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ct val="100000"/>
              <a:buFont typeface="Raleway"/>
              <a:buAutoNum type="arabicPeriod"/>
            </a:pPr>
            <a:r>
              <a:rPr b="0" lang="pt-BR" sz="1755">
                <a:solidFill>
                  <a:srgbClr val="F9FAFB"/>
                </a:solidFill>
              </a:rPr>
              <a:t>Componentes PCA: São ortogonais (correlação zero);</a:t>
            </a:r>
            <a:endParaRPr b="0" sz="1755">
              <a:solidFill>
                <a:srgbClr val="F9FAFB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600">
              <a:solidFill>
                <a:srgbClr val="F9FAFB"/>
              </a:solidFill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842875" y="242650"/>
            <a:ext cx="72795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O que os dados revelaram?</a:t>
            </a:r>
            <a:endParaRPr b="1" sz="28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485300" y="89375"/>
            <a:ext cx="35457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Lidando com desbalanceamento</a:t>
            </a:r>
            <a:endParaRPr/>
          </a:p>
        </p:txBody>
      </p:sp>
      <p:sp>
        <p:nvSpPr>
          <p:cNvPr id="104" name="Google Shape;104;p16"/>
          <p:cNvSpPr txBox="1"/>
          <p:nvPr>
            <p:ph idx="2" type="body"/>
          </p:nvPr>
        </p:nvSpPr>
        <p:spPr>
          <a:xfrm>
            <a:off x="5020975" y="1263350"/>
            <a:ext cx="3780300" cy="33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/>
              <a:t>Foram testadas 4 abordagens para equilibrar as classes:</a:t>
            </a:r>
            <a:endParaRPr b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- </a:t>
            </a:r>
            <a:r>
              <a:rPr b="1" lang="pt-BR"/>
              <a:t>Baseline com class_weight:</a:t>
            </a:r>
            <a:r>
              <a:rPr lang="pt-BR"/>
              <a:t> Dá peso maior à classe minoritária;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-</a:t>
            </a:r>
            <a:r>
              <a:rPr b="1" lang="pt-BR"/>
              <a:t>Undersampling:</a:t>
            </a:r>
            <a:r>
              <a:rPr lang="pt-BR"/>
              <a:t> Reduz a classe majoritária;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-</a:t>
            </a:r>
            <a:r>
              <a:rPr b="1" lang="pt-BR"/>
              <a:t>SMOTE:</a:t>
            </a:r>
            <a:r>
              <a:rPr lang="pt-BR"/>
              <a:t> Cria amostras sintéticas de fraudes;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/>
              <a:t>-</a:t>
            </a:r>
            <a:r>
              <a:rPr b="1" lang="pt-BR"/>
              <a:t>SMOTE + Tomek:</a:t>
            </a:r>
            <a:r>
              <a:rPr lang="pt-BR"/>
              <a:t> Abordagem híbrida;</a:t>
            </a:r>
            <a:endParaRPr/>
          </a:p>
        </p:txBody>
      </p:sp>
      <p:pic>
        <p:nvPicPr>
          <p:cNvPr id="105" name="Google Shape;105;p16" title="grafico3_comparacao_abordage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575" y="1572050"/>
            <a:ext cx="3780224" cy="3025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7800" y="1331425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</a:t>
            </a:r>
            <a:r>
              <a:rPr lang="pt-BR"/>
              <a:t> avaliados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4942350" y="219662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Raleway"/>
              <a:buChar char="●"/>
            </a:pPr>
            <a:r>
              <a:rPr lang="pt-BR" sz="24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Regressão Logística</a:t>
            </a:r>
            <a:endParaRPr sz="24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810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Raleway"/>
              <a:buChar char="●"/>
            </a:pPr>
            <a:r>
              <a:rPr lang="pt-BR" sz="24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Random Forest</a:t>
            </a:r>
            <a:endParaRPr sz="24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810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Raleway"/>
              <a:buChar char="●"/>
            </a:pPr>
            <a:r>
              <a:rPr lang="pt-BR" sz="24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XGBoost</a:t>
            </a:r>
            <a:endParaRPr sz="24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810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Raleway"/>
              <a:buChar char="●"/>
            </a:pPr>
            <a:r>
              <a:rPr lang="pt-BR" sz="24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LightGBM</a:t>
            </a:r>
            <a:endParaRPr sz="24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638550" y="205612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Com a melhor abordagem definida, é a hora da modelagem.</a:t>
            </a:r>
            <a:endParaRPr sz="15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LightGBM passou por ajuste fino com RandomizedSearchCV (50 combinações), sempre otimizando para RECALL - a prioridade do stakeholder.</a:t>
            </a:r>
            <a:endParaRPr sz="15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9FAFB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651175" y="2809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Comparação dos modelos</a:t>
            </a:r>
            <a:endParaRPr/>
          </a:p>
        </p:txBody>
      </p:sp>
      <p:pic>
        <p:nvPicPr>
          <p:cNvPr id="118" name="Google Shape;118;p18" title="grafico4_comparacao_model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5375" y="1799550"/>
            <a:ext cx="4376801" cy="249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8"/>
          <p:cNvSpPr txBox="1"/>
          <p:nvPr/>
        </p:nvSpPr>
        <p:spPr>
          <a:xfrm>
            <a:off x="280975" y="2081625"/>
            <a:ext cx="3984600" cy="26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Regressão Logística: </a:t>
            </a:r>
            <a:r>
              <a:rPr lang="pt-BR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92% de Recall e 6 falsos negativos;</a:t>
            </a:r>
            <a:endParaRPr sz="13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Random Forest:</a:t>
            </a:r>
            <a:r>
              <a:rPr lang="pt-BR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87% de Recall e 9 falsos negativos;</a:t>
            </a:r>
            <a:endParaRPr sz="13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XGBoost:</a:t>
            </a:r>
            <a:r>
              <a:rPr lang="pt-BR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88% de Recall e 8 falsos </a:t>
            </a:r>
            <a:r>
              <a:rPr lang="pt-BR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negativos;</a:t>
            </a:r>
            <a:endParaRPr sz="13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LightGBM:</a:t>
            </a:r>
            <a:r>
              <a:rPr lang="pt-BR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86,7% de Recall e 10 falsos negativos;</a:t>
            </a:r>
            <a:endParaRPr sz="13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1529263" y="-1595700"/>
            <a:ext cx="6085500" cy="383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00"/>
              <a:t>Recall x Falsos Positivos</a:t>
            </a:r>
            <a:endParaRPr sz="3400"/>
          </a:p>
        </p:txBody>
      </p:sp>
      <p:sp>
        <p:nvSpPr>
          <p:cNvPr id="125" name="Google Shape;125;p19"/>
          <p:cNvSpPr txBox="1"/>
          <p:nvPr/>
        </p:nvSpPr>
        <p:spPr>
          <a:xfrm>
            <a:off x="306438" y="600225"/>
            <a:ext cx="8531100" cy="25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Análise do trade-off:</a:t>
            </a:r>
            <a:endParaRPr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Char char="●"/>
            </a:pPr>
            <a:r>
              <a:rPr lang="pt-BR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A Regressão Logística captura 4 fraudes a mais</a:t>
            </a:r>
            <a:endParaRPr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Char char="●"/>
            </a:pPr>
            <a:r>
              <a:rPr lang="pt-BR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Mas incomoda 1.403 clientes legítimos a mais</a:t>
            </a:r>
            <a:endParaRPr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Vale a pena? Considerando que cada fraude tem valor médio de R$ 600:</a:t>
            </a:r>
            <a:endParaRPr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Char char="●"/>
            </a:pPr>
            <a:r>
              <a:rPr lang="pt-BR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4 fraudes a mais = R$ 2.400 em prejuízo evitado</a:t>
            </a:r>
            <a:endParaRPr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Char char="●"/>
            </a:pPr>
            <a:r>
              <a:rPr lang="pt-BR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Custo de cada falso positivo (atendimento) ≈ R$ 20</a:t>
            </a:r>
            <a:endParaRPr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Char char="●"/>
            </a:pPr>
            <a:r>
              <a:rPr lang="pt-BR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1.403 falsos positivos = R$ 28.060 em custo</a:t>
            </a:r>
            <a:endParaRPr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A decisão depende da prioridade: segurança máxima ou experiência do cliente?</a:t>
            </a:r>
            <a:endParaRPr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6" name="Google Shape;126;p19" title="grafico6_tradeof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4688" y="3103424"/>
            <a:ext cx="5394627" cy="1875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729450" y="2193825"/>
            <a:ext cx="7035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Justificativa:</a:t>
            </a:r>
            <a:endParaRPr b="1" sz="16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Raleway"/>
              <a:buChar char="●"/>
            </a:pPr>
            <a:r>
              <a:rPr lang="pt-BR" sz="16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Maior recall: 92% vs 86,7% do segundo colocado</a:t>
            </a:r>
            <a:endParaRPr sz="16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Raleway"/>
              <a:buChar char="●"/>
            </a:pPr>
            <a:r>
              <a:rPr lang="pt-BR" sz="16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Menos fraudes não detectadas: 6 x 10</a:t>
            </a:r>
            <a:endParaRPr sz="16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Raleway"/>
              <a:buChar char="●"/>
            </a:pPr>
            <a:r>
              <a:rPr lang="pt-BR" sz="16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Cada fraude não detectada é PREJUÍZO REAL para o banco</a:t>
            </a:r>
            <a:endParaRPr sz="16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Raleway"/>
              <a:buChar char="●"/>
            </a:pPr>
            <a:r>
              <a:rPr lang="pt-BR" sz="16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O custo dos falsos positivos é gerenciável com bom atendimento</a:t>
            </a:r>
            <a:endParaRPr sz="16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132" name="Google Shape;132;p20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Modelo escolhido: Regressão Logística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/>
        </p:nvSpPr>
        <p:spPr>
          <a:xfrm>
            <a:off x="504450" y="306500"/>
            <a:ext cx="8135100" cy="14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Ajustando o threshold de decisão</a:t>
            </a:r>
            <a:endParaRPr b="1" sz="36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8" name="Google Shape;138;p21"/>
          <p:cNvSpPr txBox="1"/>
          <p:nvPr/>
        </p:nvSpPr>
        <p:spPr>
          <a:xfrm>
            <a:off x="638550" y="1404825"/>
            <a:ext cx="7483800" cy="8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 threshold padrão é 0,5, mas podemos ajustá-lo conforme a necessidade: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9" name="Google Shape;139;p21" title="Captura de tela 2026-03-02 1707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1925" y="2221200"/>
            <a:ext cx="6877050" cy="16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727650" y="590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Impacto financeiro</a:t>
            </a:r>
            <a:endParaRPr/>
          </a:p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537875" y="1441200"/>
            <a:ext cx="3842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5168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 Resultados no período de teste:</a:t>
            </a:r>
            <a:endParaRPr b="1" sz="5168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0645" lvl="0" marL="457200" rtl="0" algn="l"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Raleway"/>
              <a:buChar char="●"/>
            </a:pPr>
            <a:r>
              <a:rPr lang="pt-BR" sz="5168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Fraudes no teste: 75</a:t>
            </a:r>
            <a:endParaRPr sz="5168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0645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Raleway"/>
              <a:buChar char="●"/>
            </a:pPr>
            <a:r>
              <a:rPr lang="pt-BR" sz="5168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Fraudes detectadas: 69</a:t>
            </a:r>
            <a:endParaRPr sz="5168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0645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Raleway"/>
              <a:buChar char="●"/>
            </a:pPr>
            <a:r>
              <a:rPr lang="pt-BR" sz="5168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Fraudes não detectadas: 6</a:t>
            </a:r>
            <a:endParaRPr sz="5168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0645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Raleway"/>
              <a:buChar char="●"/>
            </a:pPr>
            <a:r>
              <a:rPr lang="pt-BR" sz="5168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Prejuízo evitado: R$ 41.400</a:t>
            </a:r>
            <a:endParaRPr sz="5168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5168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 Projeção ANUAL:</a:t>
            </a:r>
            <a:endParaRPr b="1" sz="5168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0645" lvl="0" marL="457200" rtl="0" algn="l"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Raleway"/>
              <a:buChar char="●"/>
            </a:pPr>
            <a:r>
              <a:rPr lang="pt-BR" sz="5168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R$ 496.800 em benefício direto</a:t>
            </a:r>
            <a:endParaRPr sz="5168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5168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Benefícios adicionais:</a:t>
            </a:r>
            <a:endParaRPr b="1" sz="5168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0645" lvl="0" marL="457200" rtl="0" algn="l"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Raleway"/>
              <a:buChar char="●"/>
            </a:pPr>
            <a:r>
              <a:rPr lang="pt-BR" sz="5168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Reputação do banco protegida</a:t>
            </a:r>
            <a:endParaRPr sz="5168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0645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Raleway"/>
              <a:buChar char="●"/>
            </a:pPr>
            <a:r>
              <a:rPr lang="pt-BR" sz="5168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Confiança dos clientes preservada</a:t>
            </a:r>
            <a:endParaRPr sz="5168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0645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Raleway"/>
              <a:buChar char="●"/>
            </a:pPr>
            <a:r>
              <a:rPr lang="pt-BR" sz="5168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Aprendizado organizacional sobre fraudes</a:t>
            </a:r>
            <a:endParaRPr sz="5168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5168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2" title="grafico8_impacto_financeir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3950" y="1853850"/>
            <a:ext cx="3982403" cy="279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727650" y="13825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540"/>
              <a:t>Conclusão</a:t>
            </a:r>
            <a:endParaRPr sz="2740"/>
          </a:p>
        </p:txBody>
      </p:sp>
      <p:sp>
        <p:nvSpPr>
          <p:cNvPr id="152" name="Google Shape;152;p23"/>
          <p:cNvSpPr txBox="1"/>
          <p:nvPr>
            <p:ph idx="1" type="body"/>
          </p:nvPr>
        </p:nvSpPr>
        <p:spPr>
          <a:xfrm>
            <a:off x="727650" y="2053325"/>
            <a:ext cx="7931100" cy="24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628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 O foi entregue:</a:t>
            </a:r>
            <a:endParaRPr b="1" sz="2628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2918" lvl="0" marL="457200" rtl="0" algn="l"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Raleway"/>
              <a:buChar char="●"/>
            </a:pPr>
            <a:r>
              <a:rPr lang="pt-BR" sz="2628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Modelo com 92% de recall</a:t>
            </a:r>
            <a:endParaRPr sz="2628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2918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Raleway"/>
              <a:buChar char="●"/>
            </a:pPr>
            <a:r>
              <a:rPr lang="pt-BR" sz="2628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Apenas 6 fraudes não detectadas no teste</a:t>
            </a:r>
            <a:endParaRPr sz="2628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2918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Raleway"/>
              <a:buChar char="●"/>
            </a:pPr>
            <a:r>
              <a:rPr lang="pt-BR" sz="2628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Análise completa de trade-offs</a:t>
            </a:r>
            <a:endParaRPr sz="2628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2918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Raleway"/>
              <a:buChar char="●"/>
            </a:pPr>
            <a:r>
              <a:rPr lang="pt-BR" sz="2628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Recomendações práticas para produção</a:t>
            </a:r>
            <a:endParaRPr sz="2628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628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Atendimento ao stakeholder:</a:t>
            </a:r>
            <a:endParaRPr b="1" sz="2628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1397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628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"Minimizar falsos negativos" →  Atendido</a:t>
            </a:r>
            <a:endParaRPr sz="2628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